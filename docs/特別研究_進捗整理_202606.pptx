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2026-06-21_12.56.52_x16_z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6153912" cy="47212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35040" y="0"/>
            <a:ext cx="109728" cy="6858000"/>
          </a:xfrm>
          <a:prstGeom prst="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Yu Gothic"/>
              </a:rPr>
              <a:t>パーソナル防災ナビシミュレーションの開発</a:t>
            </a:r>
          </a:p>
          <a:p>
            <a:r>
              <a:rPr sz="1700" b="0">
                <a:solidFill>
                  <a:srgbClr val="CFDDF0"/>
                </a:solidFill>
                <a:latin typeface="Yu Gothic"/>
              </a:rPr>
              <a:t>—高次元探索における PSO 改善手法の検討—</a:t>
            </a:r>
          </a:p>
          <a:p>
            <a:pPr>
              <a:spcBef>
                <a:spcPts val="2600"/>
              </a:spcBef>
            </a:pPr>
            <a:r>
              <a:rPr sz="1600" b="0">
                <a:solidFill>
                  <a:srgbClr val="FFFFFF"/>
                </a:solidFill>
                <a:latin typeface="Yu Gothic"/>
              </a:rPr>
              <a:t>専攻科1年 1M06 中屋 卓眞</a:t>
            </a:r>
          </a:p>
          <a:p>
            <a:r>
              <a:rPr sz="1300" b="0">
                <a:solidFill>
                  <a:srgbClr val="CFDDF0"/>
                </a:solidFill>
                <a:latin typeface="Yu Gothic"/>
              </a:rPr>
              <a:t>2026年6月 進捗整理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635508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Yu Gothic"/>
              </a:rPr>
              <a:t>生成した御坊歩行ワールド（空中写真地表＋浸水GT, Minecraft上面）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9728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Yu Gothic"/>
              </a:rPr>
              <a:t>1. 研究概要 ― パーソナル防災ナビ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44A55"/>
                </a:solidFill>
                <a:latin typeface="Yu Gothic"/>
              </a:rPr>
              <a:t>防災ナビ × CCPSO2 ｜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600" b="0">
                <a:solidFill>
                  <a:srgbClr val="444A55"/>
                </a:solidFill>
                <a:latin typeface="Yu Gothic"/>
              </a:rPr>
              <a:t>目的: 災害時に個人の状況へ最適化した避難経路を提示する『パーソナル防災ナビ』。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600" b="0">
                <a:solidFill>
                  <a:srgbClr val="444A55"/>
                </a:solidFill>
                <a:latin typeface="Yu Gothic"/>
              </a:rPr>
              <a:t>課題: 都市グリッドの経路探索は高次元最適化 → 標準PSOは『次元の呪い』で局所解へ。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600" b="0">
                <a:solidFill>
                  <a:srgbClr val="444A55"/>
                </a:solidFill>
                <a:latin typeface="Yu Gothic"/>
              </a:rPr>
              <a:t>本研究の3層アプローチ: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3566160" cy="26517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657600"/>
            <a:ext cx="3566160" cy="457200"/>
          </a:xfrm>
          <a:prstGeom prst="round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694176"/>
            <a:ext cx="33832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Yu Gothic"/>
              </a:rPr>
              <a:t>A. 多源データ融合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206240"/>
            <a:ext cx="325526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44A55"/>
                </a:solidFill>
                <a:latin typeface="Yu Gothic"/>
              </a:rPr>
              <a:t>LiDAR・5m DEM・FG-GML建物/道路・空中写真・OSM橋を統合し御坊を高精細モデル化。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3657600"/>
            <a:ext cx="3566160" cy="26517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5968" y="3657600"/>
            <a:ext cx="3566160" cy="457200"/>
          </a:xfrm>
          <a:prstGeom prst="round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3694176"/>
            <a:ext cx="33832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Yu Gothic"/>
              </a:rPr>
              <a:t>B. 高次元最適化 (CCPSO2)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4206240"/>
            <a:ext cx="325526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44A55"/>
                </a:solidFill>
                <a:latin typeface="Yu Gothic"/>
              </a:rPr>
              <a:t>避難経路/洪水校正の高次元探索を CCPSO2(分割統治)で改善。本研究の中核。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3657600"/>
            <a:ext cx="3566160" cy="26517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83296" y="3657600"/>
            <a:ext cx="3566160" cy="457200"/>
          </a:xfrm>
          <a:prstGeom prst="round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3694176"/>
            <a:ext cx="33832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Yu Gothic"/>
              </a:rPr>
              <a:t>C. 防災ワールド可視化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4206240"/>
            <a:ext cx="325526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44A55"/>
                </a:solidFill>
                <a:latin typeface="Yu Gothic"/>
              </a:rPr>
              <a:t>Minecraftで歩き回れる御坊全域ワールド。避難シミュ・防災教育の舞台。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9728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Yu Gothic"/>
              </a:rPr>
              <a:t>2. 課題 ― 高次元探索の『次元の呪い』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44A55"/>
                </a:solidFill>
                <a:latin typeface="Yu Gothic"/>
              </a:rPr>
              <a:t>防災ナビ × CCPSO2 ｜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800" b="0">
                <a:solidFill>
                  <a:srgbClr val="444A55"/>
                </a:solidFill>
                <a:latin typeface="Yu Gothic"/>
              </a:rPr>
              <a:t>避難経路は地点数に応じて探索次元が爆発的に増加（高次元問題）。</a:t>
            </a:r>
          </a:p>
          <a:p>
            <a:pPr>
              <a:spcAft>
                <a:spcPts val="1800"/>
              </a:spcAft>
            </a:pPr>
            <a:r>
              <a:rPr sz="18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800" b="0">
                <a:solidFill>
                  <a:srgbClr val="444A55"/>
                </a:solidFill>
                <a:latin typeface="Yu Gothic"/>
              </a:rPr>
              <a:t>Standard PSO: 高次元で粒子群の多様性が早期に失われ、袋小路・危険経路など局所解へ収束。</a:t>
            </a:r>
          </a:p>
          <a:p>
            <a:pPr>
              <a:spcAft>
                <a:spcPts val="1800"/>
              </a:spcAft>
            </a:pPr>
            <a:r>
              <a:rPr sz="18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800" b="0">
                <a:solidFill>
                  <a:srgbClr val="444A55"/>
                </a:solidFill>
                <a:latin typeface="Yu Gothic"/>
              </a:rPr>
              <a:t>速度ベクトル更新は高次元で制御困難・発散しやすい。</a:t>
            </a:r>
          </a:p>
          <a:p>
            <a:pPr>
              <a:spcAft>
                <a:spcPts val="1800"/>
              </a:spcAft>
            </a:pPr>
            <a:r>
              <a:rPr sz="18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800" b="0">
                <a:solidFill>
                  <a:srgbClr val="444A55"/>
                </a:solidFill>
                <a:latin typeface="Yu Gothic"/>
              </a:rPr>
              <a:t>→ 構造そのものを変える改善手法 CCPSO2 を選定。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9728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Yu Gothic"/>
              </a:rPr>
              <a:t>3. PSO改善手法: CCPSO2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44A55"/>
                </a:solidFill>
                <a:latin typeface="Yu Gothic"/>
              </a:rPr>
              <a:t>防災ナビ × CCPSO2 ｜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500" b="0">
                <a:solidFill>
                  <a:srgbClr val="444A55"/>
                </a:solidFill>
                <a:latin typeface="Yu Gothic"/>
              </a:rPr>
              <a:t>高次元空間を低次元の部分問題に分解し、協調的に最適化する手法（Li &amp; Yao 2012）。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3566160" cy="40233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566160" cy="457200"/>
          </a:xfrm>
          <a:prstGeom prst="round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39696"/>
            <a:ext cx="33832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Yu Gothic"/>
              </a:rPr>
              <a:t>分割統治・協調共進化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651760"/>
            <a:ext cx="3255264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44A55"/>
                </a:solidFill>
                <a:latin typeface="Yu Gothic"/>
              </a:rPr>
              <a:t>D次元解を低次元サブ群に分解。評価時に他群の代表解(Context Vector)と結合して完全解を構成し、部分最適を全体最適へ協調収束。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103120"/>
            <a:ext cx="3566160" cy="40233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5968" y="2103120"/>
            <a:ext cx="3566160" cy="457200"/>
          </a:xfrm>
          <a:prstGeom prst="round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2139696"/>
            <a:ext cx="33832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Yu Gothic"/>
              </a:rPr>
              <a:t>Random Grouping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651760"/>
            <a:ext cx="3255264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44A55"/>
                </a:solidFill>
                <a:latin typeface="Yu Gothic"/>
              </a:rPr>
              <a:t>一定周期で変数グループをランダムにシャッフル。相互作用の強い変数を同一グループに入れる確率を高め、依存関係に柔軟対応。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2103120"/>
            <a:ext cx="3566160" cy="40233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83296" y="2103120"/>
            <a:ext cx="3566160" cy="457200"/>
          </a:xfrm>
          <a:prstGeom prst="round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2139696"/>
            <a:ext cx="33832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Yu Gothic"/>
              </a:rPr>
              <a:t>Cauchy / Gaussian 更新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651760"/>
            <a:ext cx="3255264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44A55"/>
                </a:solidFill>
                <a:latin typeface="Yu Gothic"/>
              </a:rPr>
              <a:t>速度を廃止し確率的に位置をサンプリング。Cauchy(重い裾)=大域探索で局所解脱出、Gaussian=局所活用で精度向上。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9728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Yu Gothic"/>
              </a:rPr>
              <a:t>4. 実証① 避難経路最適化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44A55"/>
                </a:solidFill>
                <a:latin typeface="Yu Gothic"/>
              </a:rPr>
              <a:t>防災ナビ × CCPSO2 ｜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800" b="0">
                <a:solidFill>
                  <a:srgbClr val="444A55"/>
                </a:solidFill>
                <a:latin typeface="Yu Gothic"/>
              </a:rPr>
              <a:t>障害物を配置したグリッドマップ上で Standard PSO と CCPSO2 を比較。</a:t>
            </a:r>
          </a:p>
          <a:p>
            <a:pPr>
              <a:spcAft>
                <a:spcPts val="1800"/>
              </a:spcAft>
            </a:pPr>
            <a:r>
              <a:rPr sz="18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800" b="0">
                <a:solidFill>
                  <a:srgbClr val="444A55"/>
                </a:solidFill>
                <a:latin typeface="Yu Gothic"/>
              </a:rPr>
              <a:t>Standard PSO: 変数増加に伴い探索不能（局所解への早期収束）。</a:t>
            </a:r>
          </a:p>
          <a:p>
            <a:pPr>
              <a:spcAft>
                <a:spcPts val="1800"/>
              </a:spcAft>
            </a:pPr>
            <a:r>
              <a:rPr sz="18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800" b="0">
                <a:solidFill>
                  <a:srgbClr val="444A55"/>
                </a:solidFill>
                <a:latin typeface="Yu Gothic"/>
              </a:rPr>
              <a:t>CCPSO2: 次元数が増えても安定して最短・低リスク経路を導出。</a:t>
            </a:r>
          </a:p>
          <a:p>
            <a:pPr>
              <a:spcAft>
                <a:spcPts val="1800"/>
              </a:spcAft>
            </a:pPr>
            <a:r>
              <a:rPr sz="18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800" b="0">
                <a:solidFill>
                  <a:srgbClr val="444A55"/>
                </a:solidFill>
                <a:latin typeface="Yu Gothic"/>
              </a:rPr>
              <a:t>→ 協調共進化が多様性を維持し『次元の呪い』を効果的に抑制。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9728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Yu Gothic"/>
              </a:rPr>
              <a:t>5. 実証② 御坊・日高川 洪水校正（高次元逆問題）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44A55"/>
                </a:solidFill>
                <a:latin typeface="Yu Gothic"/>
              </a:rPr>
              <a:t>防災ナビ × CCPSO2 ｜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6949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500" b="0">
                <a:solidFill>
                  <a:srgbClr val="444A55"/>
                </a:solidFill>
                <a:latin typeface="Yu Gothic"/>
              </a:rPr>
              <a:t>観測浸水域を再現するパラメータを CCPSO2 で同定する逆問題。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500" b="0">
                <a:solidFill>
                  <a:srgbClr val="444A55"/>
                </a:solidFill>
                <a:latin typeface="Yu Gothic"/>
              </a:rPr>
              <a:t>探索変数: 全体水位 water∈[3,8]m + 空間補正 Δh を K×K ブロック化 ∈[-2,2]m。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500" b="0">
                <a:solidFill>
                  <a:srgbClr val="444A55"/>
                </a:solidFill>
                <a:latin typeface="Yu Gothic"/>
              </a:rPr>
              <a:t>→ D = 1+K² (17 / 65 / 257)。高次元化で CCPSO2 の真価を検証。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500" b="0">
                <a:solidFill>
                  <a:srgbClr val="444A55"/>
                </a:solidFill>
                <a:latin typeface="Yu Gothic"/>
              </a:rPr>
              <a:t>フォワード: バスタブ+連結成分(安価~ms)。目的=浸水深MAE。非微分・多峰・ill-posed。</a:t>
            </a:r>
          </a:p>
        </p:txBody>
      </p:sp>
      <p:pic>
        <p:nvPicPr>
          <p:cNvPr id="8" name="Picture 7" descr="H_gt_d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4023360" cy="3486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612648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44A55"/>
                </a:solidFill>
                <a:latin typeface="Yu Gothic"/>
              </a:rPr>
              <a:t>真値 Δh 補正マップ (K=16)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9728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Yu Gothic"/>
              </a:rPr>
              <a:t>6. 結果 ― 高次元で CCPSO2 が逆転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44A55"/>
                </a:solidFill>
                <a:latin typeface="Yu Gothic"/>
              </a:rPr>
              <a:t>防災ナビ × CCPSO2 ｜ 6</a:t>
            </a:r>
          </a:p>
        </p:txBody>
      </p:sp>
      <p:pic>
        <p:nvPicPr>
          <p:cNvPr id="7" name="Picture 6" descr="summary_loss_vs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035040" cy="38796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66560" y="137160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500" b="0">
                <a:solidFill>
                  <a:srgbClr val="444A55"/>
                </a:solidFill>
                <a:latin typeface="Yu Gothic"/>
              </a:rPr>
              <a:t>低次元 D=17/65: 標準PSOが優位（分割のオーバーヘッドが無駄）。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500" b="0">
                <a:solidFill>
                  <a:srgbClr val="444A55"/>
                </a:solidFill>
                <a:latin typeface="Yu Gothic"/>
              </a:rPr>
              <a:t>高次元 D=257: CCPSO2 が逆転。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3017520"/>
            <a:ext cx="5029200" cy="1371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31546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6294D"/>
                </a:solidFill>
                <a:latin typeface="Yu Gothic"/>
              </a:rPr>
              <a:t>D=257 (K=16):  loss -29% / IoU +1.8pt</a:t>
            </a:r>
          </a:p>
          <a:p>
            <a:r>
              <a:rPr sz="1300" b="0">
                <a:solidFill>
                  <a:srgbClr val="444A55"/>
                </a:solidFill>
                <a:latin typeface="Yu Gothic"/>
              </a:rPr>
              <a:t>ばらつき(分散)も標準PSOより小 → 安定して良解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45720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400" b="0">
                <a:solidFill>
                  <a:srgbClr val="444A55"/>
                </a:solidFill>
                <a:latin typeface="Yu Gothic"/>
              </a:rPr>
              <a:t>結果は LSGO 文献(Li &amp; Yao 2012)が予測する挙動と整合。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9728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Yu Gothic"/>
              </a:rPr>
              <a:t>7. 高次元での収束挙動 (K=16, D=257)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44A55"/>
                </a:solidFill>
                <a:latin typeface="Yu Gothic"/>
              </a:rPr>
              <a:t>防災ナビ × CCPSO2 ｜ 7</a:t>
            </a:r>
          </a:p>
        </p:txBody>
      </p:sp>
      <p:pic>
        <p:nvPicPr>
          <p:cNvPr id="7" name="Picture 6" descr="conv_K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371600"/>
            <a:ext cx="7406640" cy="47614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300" b="0">
                <a:solidFill>
                  <a:srgbClr val="444A55"/>
                </a:solidFill>
                <a:latin typeface="Yu Gothic"/>
              </a:rPr>
              <a:t>評価回数に対する best cost。CCPSO2 はサブスウォーム並列探索で多様性を保ち、標準PSOが頭打ちになる領域でも改善を継続。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9728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Yu Gothic"/>
              </a:rPr>
              <a:t>8. 避難シミュ基盤: 御坊全域 歩行可能ワールド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44A55"/>
                </a:solidFill>
                <a:latin typeface="Yu Gothic"/>
              </a:rPr>
              <a:t>防災ナビ × CCPSO2 ｜ 8</a:t>
            </a:r>
          </a:p>
        </p:txBody>
      </p:sp>
      <p:pic>
        <p:nvPicPr>
          <p:cNvPr id="7" name="Picture 6" descr="2026-06-21_12.56.52_x16_z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6035040" cy="46300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32588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500" b="0">
                <a:solidFill>
                  <a:srgbClr val="444A55"/>
                </a:solidFill>
                <a:latin typeface="Yu Gothic"/>
              </a:rPr>
              <a:t>御坊市を Minecraft 構造で高精細再現（歩いて避難体験できる舞台）。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500" b="0">
                <a:solidFill>
                  <a:srgbClr val="444A55"/>
                </a:solidFill>
                <a:latin typeface="Yu Gothic"/>
              </a:rPr>
              <a:t>解像度 scale1.5 = 1ブロック0.667m、和歌山LiDARの真の1m地形。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500" b="0">
                <a:solidFill>
                  <a:srgbClr val="444A55"/>
                </a:solidFill>
                <a:latin typeface="Yu Gothic"/>
              </a:rPr>
              <a:t>規模: 御坊全域 10 LiDAR図郭 × 4分割 = 40 litematic。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500" b="0">
                <a:solidFill>
                  <a:srgbClr val="444A55"/>
                </a:solidFill>
                <a:latin typeface="Yu Gothic"/>
              </a:rPr>
              <a:t>マージン撤廃で隣接タイルが密着し隙間ゼロ。実座標で連結。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500" b="0">
                <a:solidFill>
                  <a:srgbClr val="444A55"/>
                </a:solidFill>
                <a:latin typeface="Yu Gothic"/>
              </a:rPr>
              <a:t>図右: 空中写真地表＋浸水域GT＋建物＋日高川の橋。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9728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Yu Gothic"/>
              </a:rPr>
              <a:t>9. Layer A ― 多源データ融合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44A55"/>
                </a:solidFill>
                <a:latin typeface="Yu Gothic"/>
              </a:rPr>
              <a:t>防災ナビ × CCPSO2 ｜ 9</a:t>
            </a:r>
          </a:p>
        </p:txBody>
      </p:sp>
      <p:pic>
        <p:nvPicPr>
          <p:cNvPr id="7" name="Picture 6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10972800" cy="5486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200" b="0">
                <a:solidFill>
                  <a:srgbClr val="444A55"/>
                </a:solidFill>
                <a:latin typeface="Yu Gothic"/>
              </a:rPr>
              <a:t>A 標高 / B 物体高 / C 建物 / D 道路 / E 5m DEM / F 空中写真 / G 橋 / H 浸水GT を統合して御坊を再現。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9728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Yu Gothic"/>
              </a:rPr>
              <a:t>10. Layer A ― 建物・道路・橋の高精細化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44A55"/>
                </a:solidFill>
                <a:latin typeface="Yu Gothic"/>
              </a:rPr>
              <a:t>防災ナビ × CCPSO2 ｜ 10</a:t>
            </a:r>
          </a:p>
        </p:txBody>
      </p:sp>
      <p:pic>
        <p:nvPicPr>
          <p:cNvPr id="7" name="Picture 6" descr="C_fgd_b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657600" cy="3169920"/>
          </a:xfrm>
          <a:prstGeom prst="rect">
            <a:avLst/>
          </a:prstGeom>
        </p:spPr>
      </p:pic>
      <p:pic>
        <p:nvPicPr>
          <p:cNvPr id="8" name="Picture 7" descr="D_fgd_r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71600"/>
            <a:ext cx="3657600" cy="3169920"/>
          </a:xfrm>
          <a:prstGeom prst="rect">
            <a:avLst/>
          </a:prstGeom>
        </p:spPr>
      </p:pic>
      <p:pic>
        <p:nvPicPr>
          <p:cNvPr id="9" name="Picture 8" descr="G_osm_bri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371600"/>
            <a:ext cx="3657600" cy="3169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12064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400" b="0">
                <a:solidFill>
                  <a:srgbClr val="444A55"/>
                </a:solidFill>
                <a:latin typeface="Yu Gothic"/>
              </a:rPr>
              <a:t>建物: FG-GML footprint + LiDAR DSM を per-building p75 でフラット屋根化、type別壁、複数メッシュ union。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400" b="0">
                <a:solidFill>
                  <a:srgbClr val="444A55"/>
                </a:solidFill>
                <a:latin typeface="Yu Gothic"/>
              </a:rPr>
              <a:t>道路: FG-GML 道路縁を安山岩で。 橋: OSM(bridge)を Tellus流に桁+4:1坂+橋脚で立体化(上面=空中写真)。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9728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Yu Gothic"/>
              </a:rPr>
              <a:t>11. 妥当性と課題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44A55"/>
                </a:solidFill>
                <a:latin typeface="Yu Gothic"/>
              </a:rPr>
              <a:t>防災ナビ × CCPSO2 ｜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600" b="0">
                <a:solidFill>
                  <a:srgbClr val="444A55"/>
                </a:solidFill>
                <a:latin typeface="Yu Gothic"/>
              </a:rPr>
              <a:t>妥当: 非微分ブラックボックス・D≤257・安価フォワード → メタヒューリスティクスが自然。結果はLSGO文献と整合。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600" b="0">
                <a:solidFill>
                  <a:srgbClr val="444A55"/>
                </a:solidFill>
                <a:latin typeface="Yu Gothic"/>
              </a:rPr>
              <a:t>課題① ベースライン: CMA-ES / 他CC手法(DECC-G等)を比較に加えると主張がより強固。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600" b="0">
                <a:solidFill>
                  <a:srgbClr val="444A55"/>
                </a:solidFill>
                <a:latin typeface="Yu Gothic"/>
              </a:rPr>
              <a:t>課題② 定式化: per-cell Δh(257) は ill-posed(浸水境界しか拘束しない) → 物理基底で低次元化。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600" b="0">
                <a:solidFill>
                  <a:srgbClr val="444A55"/>
                </a:solidFill>
                <a:latin typeface="Yu Gothic"/>
              </a:rPr>
              <a:t>課題③ 実用: 洪水校正の定石はデータ同化(EnKF/4D-Var)。本研究は高次元最適化器の比較が主目的。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600" b="0">
                <a:solidFill>
                  <a:srgbClr val="444A55"/>
                </a:solidFill>
                <a:latin typeface="Yu Gothic"/>
              </a:rPr>
              <a:t>データ規約: 国土地理院 / 和歌山県 / OSM(© OpenStreetMap contributors, ODbL) を出典明記(docs/08)。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9728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Yu Gothic"/>
              </a:rPr>
              <a:t>12. 今後の展望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44A55"/>
                </a:solidFill>
                <a:latin typeface="Yu Gothic"/>
              </a:rPr>
              <a:t>防災ナビ × CCPSO2 ｜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486400" cy="47548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486400" cy="457200"/>
          </a:xfrm>
          <a:prstGeom prst="round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08176"/>
            <a:ext cx="53035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Yu Gothic"/>
              </a:rPr>
              <a:t>免疫アルゴリズム(IA)による動的適応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20240"/>
            <a:ext cx="5175504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44A55"/>
                </a:solidFill>
                <a:latin typeface="Yu Gothic"/>
              </a:rPr>
              <a:t>災害状況=抗原 / 経路解=抗体。親和性成熟で有効な部分解(遺伝子断片)を記憶し、環境変化(抗原の変異)に即応する免疫記憶型のロバスト探索へ。CCPSO2の分割統治知見を移植。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371600"/>
            <a:ext cx="5486400" cy="47548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486400" cy="457200"/>
          </a:xfrm>
          <a:prstGeom prst="round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08176"/>
            <a:ext cx="53035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Yu Gothic"/>
              </a:rPr>
              <a:t>画像処理・高次元クラスタリング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920240"/>
            <a:ext cx="5175504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44A55"/>
                </a:solidFill>
                <a:latin typeface="Yu Gothic"/>
              </a:rPr>
              <a:t>画素/特徴量の高次元クラスタリング(セグメンテーション)にCCPSO2を適用し初期値依存を低減。被災状況の自動認識へ統合。ワールドは屋根形状・実樹木(class3)・効率化を拡張。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F28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9728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Yu Gothic"/>
              </a:rPr>
              <a:t>まとめ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19088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444A55"/>
                </a:solidFill>
                <a:latin typeface="Yu Gothic"/>
              </a:rPr>
              <a:t>防災ナビ × CCPSO2 ｜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700" b="0">
                <a:solidFill>
                  <a:srgbClr val="444A55"/>
                </a:solidFill>
                <a:latin typeface="Yu Gothic"/>
              </a:rPr>
              <a:t>高次元PSOの『次元の呪い』に対し CCPSO2(分割統治+RG+Cauchy/Gauss)を実装。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700" b="0">
                <a:solidFill>
                  <a:srgbClr val="444A55"/>
                </a:solidFill>
                <a:latin typeface="Yu Gothic"/>
              </a:rPr>
              <a:t>実証① 避難経路最適化: 高次元で Standard PSO を上回り安定収束。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700" b="0">
                <a:solidFill>
                  <a:srgbClr val="444A55"/>
                </a:solidFill>
                <a:latin typeface="Yu Gothic"/>
              </a:rPr>
              <a:t>実証② 御坊洪水校正: D=257 で CCPSO2 が loss-29%・IoU+1.8pt・分散も小と逆転を再現。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700" b="0">
                <a:solidFill>
                  <a:srgbClr val="444A55"/>
                </a:solidFill>
                <a:latin typeface="Yu Gothic"/>
              </a:rPr>
              <a:t>基盤: 御坊全域 10図郭×4=40 litematic の歩行可能ワールド(LiDAR+FG-GML+OSM橋+空中写真)を構築。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28C1B"/>
                </a:solidFill>
                <a:latin typeface="Yu Gothic"/>
              </a:rPr>
              <a:t>▶ </a:t>
            </a:r>
            <a:r>
              <a:rPr sz="1700" b="0">
                <a:solidFill>
                  <a:srgbClr val="444A55"/>
                </a:solidFill>
                <a:latin typeface="Yu Gothic"/>
              </a:rPr>
              <a:t>今後: 免疫アルゴリズム(動的適応)・画像クラスタリングへ展開。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