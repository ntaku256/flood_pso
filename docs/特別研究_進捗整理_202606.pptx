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23ae5c65c2aad5b689adfbd63fe93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465278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109728" cy="6858000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Yu Gothic"/>
              </a:rPr>
              <a:t>パーソナル防災ナビシミュレーションの開発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CFDDF0"/>
                </a:solidFill>
                <a:latin typeface="Yu Gothic"/>
              </a:rPr>
              <a:t>—高次元探索における PSO 改善手法の検討—</a:t>
            </a:r>
          </a:p>
          <a:p>
            <a:pPr>
              <a:spcBef>
                <a:spcPts val="1800"/>
              </a:spcBef>
            </a:pPr>
            <a:r>
              <a:rPr sz="1600" b="0">
                <a:solidFill>
                  <a:srgbClr val="FFFFFF"/>
                </a:solidFill>
                <a:latin typeface="Yu Gothic"/>
              </a:rPr>
              <a:t>専攻科1年 1M06 中屋 卓眞</a:t>
            </a:r>
          </a:p>
          <a:p>
            <a:pPr>
              <a:spcBef>
                <a:spcPts val="1800"/>
              </a:spcBef>
            </a:pPr>
            <a:r>
              <a:rPr sz="1300" b="0">
                <a:solidFill>
                  <a:srgbClr val="CFDDF0"/>
                </a:solidFill>
                <a:latin typeface="Yu Gothic"/>
              </a:rPr>
              <a:t>2026年6月 進捗整理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64008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44A55"/>
                </a:solidFill>
                <a:latin typeface="Yu Gothic"/>
              </a:rPr>
              <a:t>御坊全域 歩行ワールド（日高川・市街・海岸）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1. 研究概要 ― パーソナル防災ナビ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目的: 災害時に個人の状況へ最適化した避難経路を提示する『パーソナル防災ナビ』。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課題: 都市グリッドの経路探索は高次元最適化 → 標準PSOは『次元の呪い』で局所解へ。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本研究の3層アプローチ: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566160" cy="26517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3566160" cy="457200"/>
          </a:xfrm>
          <a:prstGeom prst="round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94176"/>
            <a:ext cx="3383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Yu Gothic"/>
              </a:rPr>
              <a:t>A. 多源データ融合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06240"/>
            <a:ext cx="32552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44A55"/>
                </a:solidFill>
                <a:latin typeface="Yu Gothic"/>
              </a:rPr>
              <a:t>LiDAR地形/建物高さ/樹木・FG-GML建物/道路/水域・空中写真・OSM橋・土地利用の11役割を統合(＋防災レイヤで避難所)。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3657600"/>
            <a:ext cx="3566160" cy="26517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3657600"/>
            <a:ext cx="3566160" cy="457200"/>
          </a:xfrm>
          <a:prstGeom prst="round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3694176"/>
            <a:ext cx="3383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Yu Gothic"/>
              </a:rPr>
              <a:t>B. 高次元最適化 CCPSO2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206240"/>
            <a:ext cx="32552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44A55"/>
                </a:solidFill>
                <a:latin typeface="Yu Gothic"/>
              </a:rPr>
              <a:t>避難経路/洪水校正の高次元探索を CCPSO2(分割統治・適応グループサイズ)で改善。本研究の中核。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3657600"/>
            <a:ext cx="3566160" cy="26517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3657600"/>
            <a:ext cx="3566160" cy="4572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3694176"/>
            <a:ext cx="3383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Yu Gothic"/>
              </a:rPr>
              <a:t>C. 防災ワールド可視化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206240"/>
            <a:ext cx="32552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44A55"/>
                </a:solidFill>
                <a:latin typeface="Yu Gothic"/>
              </a:rPr>
              <a:t>Minecraftで歩ける御坊全域。避難シミュ・防災教育の舞台。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2. 課題 ― 高次元探索の『次元の呪い』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避難経路は地点数で探索次元が爆発（高次元問題）。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Standard PSO: 高次元で多様性を早期に失い局所解（袋小路・危険経路）へ。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速度更新は高次元で制御困難・発散しやすい。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→ 構造を変える改善手法 CCPSO2 を選定。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3. PSO改善手法: CCPSO2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高次元空間を低次元の部分問題に分解し協調的に最適化（Li &amp; Yao 2012）。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6160" cy="4023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566160" cy="457200"/>
          </a:xfrm>
          <a:prstGeom prst="round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9696"/>
            <a:ext cx="3383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Yu Gothic"/>
              </a:rPr>
              <a:t>分割統治・協調共進化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51760"/>
            <a:ext cx="325526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44A55"/>
                </a:solidFill>
                <a:latin typeface="Yu Gothic"/>
              </a:rPr>
              <a:t>D次元解を低次元サブ群に分解。Context Vector と結合し完全解を構成、部分最適を全体最適へ。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103120"/>
            <a:ext cx="3566160" cy="4023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2103120"/>
            <a:ext cx="3566160" cy="457200"/>
          </a:xfrm>
          <a:prstGeom prst="round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139696"/>
            <a:ext cx="3383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Yu Gothic"/>
              </a:rPr>
              <a:t>適応的グループサイズ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51760"/>
            <a:ext cx="325526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44A55"/>
                </a:solidFill>
                <a:latin typeface="Yu Gothic"/>
              </a:rPr>
              <a:t>グループサイズ s を候補集合{2,5,10,25,…}から改善停滞時に選び直す。固定sは性能を大きく損なう（要・適応）。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103120"/>
            <a:ext cx="3566160" cy="4023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2103120"/>
            <a:ext cx="3566160" cy="4572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2139696"/>
            <a:ext cx="3383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Yu Gothic"/>
              </a:rPr>
              <a:t>Cauchy / Gaussian 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51760"/>
            <a:ext cx="325526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44A55"/>
                </a:solidFill>
                <a:latin typeface="Yu Gothic"/>
              </a:rPr>
              <a:t>速度を廃し確率的に位置をサンプリング。Cauchy=大域探索で局所解脱出、Gaussian=局所活用で精度。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4. 実証① 避難経路最適化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障害物グリッドで Standard PSO と CCPSO2 を比較。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Standard PSO: 変数増加で探索不能（早期収束）。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CCPSO2: 次元増でも安定して最短・低リスク経路を導出。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800" b="0">
                <a:solidFill>
                  <a:srgbClr val="444A55"/>
                </a:solidFill>
                <a:latin typeface="Yu Gothic"/>
              </a:rPr>
              <a:t>→ 協調共進化が多様性を維持し『次元の呪い』を抑制。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5. 実証② 御坊・日高川 洪水校正（高次元逆問題）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観測浸水域を再現するパラメータを CCPSO2 で同定する逆問題。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変数: 全体水位 water∈[3,8]m + 空間補正 Δh を K×K ∈[-2,2]m。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→ D = 1+K² (17 / 65 / 257)。高次元化で真価を検証。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フォワード: バスタブ+連結成分。目的=浸水深MAE。非微分・多峰・ill-posed。</a:t>
            </a:r>
          </a:p>
        </p:txBody>
      </p:sp>
      <p:pic>
        <p:nvPicPr>
          <p:cNvPr id="8" name="Picture 7" descr="R_flood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4023360" cy="3486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61264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44A55"/>
                </a:solidFill>
                <a:latin typeface="Yu Gothic"/>
              </a:rPr>
              <a:t>真値 Δh 補正マップ (K=16)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6. 結果 ― 高次元で CCPSO2 が逆転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6</a:t>
            </a:r>
          </a:p>
        </p:txBody>
      </p:sp>
      <p:pic>
        <p:nvPicPr>
          <p:cNvPr id="7" name="Picture 6" descr="summary_loss_vs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035040" cy="38796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3716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低次元 D=17/65: 標準PSOが優位（分割の無駄）。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高次元 D=257: CCPSO2 が逆転。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017520"/>
            <a:ext cx="502920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154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294D"/>
                </a:solidFill>
                <a:latin typeface="Yu Gothic"/>
              </a:rPr>
              <a:t>D=257 (K=16):  loss -39% / IoU +1.9pt</a:t>
            </a:r>
          </a:p>
          <a:p>
            <a:r>
              <a:rPr sz="1300" b="0">
                <a:solidFill>
                  <a:srgbClr val="444A55"/>
                </a:solidFill>
                <a:latin typeface="Yu Gothic"/>
              </a:rPr>
              <a:t>適応グループサイズCCPSO2。ばらつきも標準PSOより小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300" b="0">
                <a:solidFill>
                  <a:srgbClr val="444A55"/>
                </a:solidFill>
                <a:latin typeface="Yu Gothic"/>
              </a:rPr>
              <a:t>標準LSGOベンチでも適応CCPSO2が5関数×D=100/500/1000の全15ケース勝利（独立検証）。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7. 高次元での収束挙動 (K=16, D=257)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7</a:t>
            </a:r>
          </a:p>
        </p:txBody>
      </p:sp>
      <p:pic>
        <p:nvPicPr>
          <p:cNvPr id="7" name="Picture 6" descr="conv_K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71600"/>
            <a:ext cx="7406640" cy="4761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300" b="0">
                <a:solidFill>
                  <a:srgbClr val="444A55"/>
                </a:solidFill>
                <a:latin typeface="Yu Gothic"/>
              </a:rPr>
              <a:t>評価回数に対する best cost。CCPSO2 はサブスウォーム並列探索で多様性を保ち、標準PSOが頭打ちの領域でも改善を継続。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8. 避難シミュ基盤: 御坊全域 歩行ワールド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8</a:t>
            </a:r>
          </a:p>
        </p:txBody>
      </p:sp>
      <p:pic>
        <p:nvPicPr>
          <p:cNvPr id="7" name="Picture 6" descr="83a99b06444b52269c18f35a50e2e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6035040" cy="3224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32588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御坊市を Minecraft 構造で高精細再現（歩いて避難体験できる舞台）。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解像度 scale1.5 = 1ブロック0.667m、和歌山LiDARの真1m地形。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規模: 10 LiDAR図郭 × 4分割 = 40 litematic。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各 litematic 幅752ブロック固定で +752ずつ密着配置。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図右: 御坊市街の街並み（建物・道路網・丘陵）。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9. Layer A ― 多源データ（役割別 11）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9</a:t>
            </a:r>
          </a:p>
        </p:txBody>
      </p:sp>
      <p:pic>
        <p:nvPicPr>
          <p:cNvPr id="7" name="Picture 6" descr="5ddfa2c1c90763fda22c899a029d15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7312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100" b="0">
                <a:solidFill>
                  <a:srgbClr val="444A55"/>
                </a:solidFill>
                <a:latin typeface="Yu Gothic"/>
              </a:rPr>
              <a:t>①地形 ②建物高さ ③樹木 ④建物 ⑤道路 ⑥水域 ⑦橋 ⑧地表色 ⑨洪水フォワード ⑩浸水GT ⑪土地利用 を統合（同じ LiDAR org から建物高さと樹木を分離）。避難所は防災レイヤで別管理。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10. 高精細化① 建物・道路・橋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10</a:t>
            </a:r>
          </a:p>
        </p:txBody>
      </p:sp>
      <p:pic>
        <p:nvPicPr>
          <p:cNvPr id="7" name="Picture 6" descr="83a99b06444b52269c18f35a50e2e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931305"/>
          </a:xfrm>
          <a:prstGeom prst="rect">
            <a:avLst/>
          </a:prstGeom>
        </p:spPr>
      </p:pic>
      <p:pic>
        <p:nvPicPr>
          <p:cNvPr id="8" name="Picture 7" descr="R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2743200" cy="2377440"/>
          </a:xfrm>
          <a:prstGeom prst="rect">
            <a:avLst/>
          </a:prstGeom>
        </p:spPr>
      </p:pic>
      <p:pic>
        <p:nvPicPr>
          <p:cNvPr id="9" name="Picture 8" descr="R_b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371600"/>
            <a:ext cx="2651760" cy="2298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1206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400" b="0">
                <a:solidFill>
                  <a:srgbClr val="444A55"/>
                </a:solidFill>
                <a:latin typeface="Yu Gothic"/>
              </a:rPr>
              <a:t>建物: per-building 平坦屋根→寄棟風勾配屋根、階高5(壁4+床1)+窓帯+軒、type別壁。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400" b="0">
                <a:solidFill>
                  <a:srgbClr val="444A55"/>
                </a:solidFill>
                <a:latin typeface="Yu Gothic"/>
              </a:rPr>
              <a:t>道路: 幹線=舗装/細道=砂利。 橋: OSM を桁+坂+橋脚で立体化、奥道路参照で境界も架橋、橋下は洪水水位まで充水。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11. 高精細化② 自然と防災（樹木・海岸・水域・避難所）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11</a:t>
            </a:r>
          </a:p>
        </p:txBody>
      </p:sp>
      <p:pic>
        <p:nvPicPr>
          <p:cNvPr id="7" name="Picture 6" descr="ac364e316737a1c391439677a59a29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3126725"/>
          </a:xfrm>
          <a:prstGeom prst="rect">
            <a:avLst/>
          </a:prstGeom>
        </p:spPr>
      </p:pic>
      <p:pic>
        <p:nvPicPr>
          <p:cNvPr id="8" name="Picture 7" descr="gobo_hd_K16_seed0_gobo_walk_1km_gt_fgd_ortho_treed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5212080" cy="3466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1206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400" b="0">
                <a:solidFill>
                  <a:srgbClr val="444A55"/>
                </a:solidFill>
                <a:latin typeface="Yu Gothic"/>
              </a:rPr>
              <a:t>樹木: LiDAR class3→高さ別樹種(低木birch/中木oak/高木spruce円錐)を空中写真の緑域に密配置(千鳥)。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400" b="0">
                <a:solidFill>
                  <a:srgbClr val="444A55"/>
                </a:solidFill>
                <a:latin typeface="Yu Gothic"/>
              </a:rPr>
              <a:t>海岸: 砂浜・礫浜・護岸。 水域: FG-GML を水面に。 防災レイヤ: P20避難所を緑の光柱で配置(避難の目的地)。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12. 洪水の可視化（真1m地形＋建物バリア）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12</a:t>
            </a:r>
          </a:p>
        </p:txBody>
      </p:sp>
      <p:pic>
        <p:nvPicPr>
          <p:cNvPr id="7" name="Picture 6" descr="a69b5d1b1c46e2afb4f82ba5e4a94c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577840" cy="2980160"/>
          </a:xfrm>
          <a:prstGeom prst="rect">
            <a:avLst/>
          </a:prstGeom>
        </p:spPr>
      </p:pic>
      <p:pic>
        <p:nvPicPr>
          <p:cNvPr id="8" name="Picture 7" descr="5ef1eb4b701498edcdb50c017c9f72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29313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300" b="0">
                <a:solidFill>
                  <a:srgbClr val="444A55"/>
                </a:solidFill>
                <a:latin typeface="Yu Gothic"/>
              </a:rPr>
              <a:t>洪水フォワードは真1m LiDAR地形で計算。建物を浸水バリア化し、水が建物を避けて道路を流れる。橋下も洪水水位まで充水。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300" b="0">
                <a:solidFill>
                  <a:srgbClr val="444A55"/>
                </a:solidFill>
                <a:latin typeface="Yu Gothic"/>
              </a:rPr>
              <a:t>歩行ワールド上で浸水を体感でき、避難行動の検討に使える（左右: 市街・農業地の浸水を地上視点で）。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13. 妥当性と課題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CCPSO2の強さ: 標準LSGOベンチで適応CCPSO2が全15ケース勝利（最適化器として独立検証済み）。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洪水校正: 高次元D=257でCCPSO2勝利。低次元はPSOで十分（高次元で逆転の構図）。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ill-posed対策: 平滑化正則化λ≈0.02でΔhパラメータ復元もPSO同等に（過適合解消）。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実装注意: 固定グループサイズはCCPSO2を弱める→適応グループサイズ必須(Li&amp;Yao 2012準拠に修正済)。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600" b="0">
                <a:solidFill>
                  <a:srgbClr val="444A55"/>
                </a:solidFill>
                <a:latin typeface="Yu Gothic"/>
              </a:rPr>
              <a:t>今後: CMA-ES/DECC-G baseline追加、seed数増、データ規約の出典明記(docs/08)。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F28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Yu Gothic"/>
              </a:rPr>
              <a:t>14. 今後の展望 /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A55"/>
                </a:solidFill>
                <a:latin typeface="Yu Gothic"/>
              </a:rPr>
              <a:t>防災ナビ × CCPSO2 ｜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2377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486400" cy="457200"/>
          </a:xfrm>
          <a:prstGeom prst="roundRect">
            <a:avLst/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16736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Yu Gothic"/>
              </a:rPr>
              <a:t>今後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28800"/>
            <a:ext cx="51755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44A55"/>
                </a:solidFill>
                <a:latin typeface="Yu Gothic"/>
              </a:rPr>
              <a:t>免疫アルゴリズム(動的適応)・画像クラスタリングへCCPSO2展開。ワールドは屋根精緻化・メモリ効率化・避難所/経路リスク統合。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高次元PSOの『次元の呪い』に CCPSO2(適応グループサイズ) で対処。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実証①経路 / 実証②御坊洪水校正(D=257でCCPSO2勝, loss-39%・IoU+1.9pt)。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標準LSGOベンチで全15ケース勝利＝最適化器としての強さを独立検証。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28C1B"/>
                </a:solidFill>
                <a:latin typeface="Yu Gothic"/>
              </a:rPr>
              <a:t>▶ </a:t>
            </a:r>
            <a:r>
              <a:rPr sz="1500" b="0">
                <a:solidFill>
                  <a:srgbClr val="444A55"/>
                </a:solidFill>
                <a:latin typeface="Yu Gothic"/>
              </a:rPr>
              <a:t>基盤: 御坊全域 40 litematic の歩行ワールド v2(役割別11の多源データ＋防災レイヤ)を構築。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